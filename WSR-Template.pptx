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A3DCBB-8DE4-63F1-024C-3E69EAF4402F}" v="320" dt="2026-06-17T05:56:46.4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9" d="100"/>
          <a:sy n="79" d="100"/>
        </p:scale>
        <p:origin x="54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00AB02A-2BFF-9CE4-7B06-860E4D3ACC94}"/>
              </a:ext>
            </a:extLst>
          </p:cNvPr>
          <p:cNvSpPr/>
          <p:nvPr/>
        </p:nvSpPr>
        <p:spPr>
          <a:xfrm>
            <a:off x="6827123" y="6132097"/>
            <a:ext cx="5150787" cy="3449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1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82DA7CED-B7F3-126C-82C3-CB2707016C3D}"/>
              </a:ext>
            </a:extLst>
          </p:cNvPr>
          <p:cNvSpPr>
            <a:spLocks noGrp="1"/>
          </p:cNvSpPr>
          <p:nvPr/>
        </p:nvSpPr>
        <p:spPr>
          <a:xfrm>
            <a:off x="375789" y="205708"/>
            <a:ext cx="5569857" cy="39315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1" i="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000"/>
              </a:spcBef>
            </a:pPr>
            <a:r>
              <a:rPr lang="en-US" sz="1800" dirty="0">
                <a:solidFill>
                  <a:schemeClr val="accent1"/>
                </a:solidFill>
                <a:latin typeface="Graphik"/>
              </a:rPr>
              <a:t>$TEAM_NAME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19E9F6-60CA-3D2F-AC11-853018AFFDA3}"/>
              </a:ext>
            </a:extLst>
          </p:cNvPr>
          <p:cNvSpPr/>
          <p:nvPr/>
        </p:nvSpPr>
        <p:spPr>
          <a:xfrm>
            <a:off x="382947" y="3945763"/>
            <a:ext cx="6401475" cy="1383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1" indent="-171450">
              <a:buFont typeface="Arial,Sans-Serif"/>
              <a:buChar char="•"/>
              <a:defRPr/>
            </a:pPr>
            <a:r>
              <a:rPr lang="en-US" sz="1100" b="1" dirty="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MAJOR ACHIEVEMENTS &amp; KEY DECISIONS MADE</a:t>
            </a:r>
            <a:endParaRPr lang="en-US" dirty="0">
              <a:solidFill>
                <a:srgbClr val="000000"/>
              </a:solidFill>
              <a:latin typeface="Graphik"/>
              <a:ea typeface="Calibri"/>
              <a:cs typeface="Calibri"/>
            </a:endParaRPr>
          </a:p>
          <a:p>
            <a:pPr marL="0" lvl="1">
              <a:defRPr/>
            </a:pPr>
            <a:r>
              <a:rPr lang="en-US" sz="1100" dirty="0">
                <a:solidFill>
                  <a:srgbClr val="000000"/>
                </a:solidFill>
                <a:latin typeface="Graphik"/>
                <a:ea typeface="Calibri"/>
                <a:cs typeface="Calibri"/>
              </a:rPr>
              <a:t>$ACHIEVEMENT_DATA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1E79D8E7-480A-C2A9-4265-2A4082589A48}"/>
              </a:ext>
            </a:extLst>
          </p:cNvPr>
          <p:cNvSpPr txBox="1"/>
          <p:nvPr/>
        </p:nvSpPr>
        <p:spPr>
          <a:xfrm>
            <a:off x="4785833" y="53163"/>
            <a:ext cx="3657433" cy="7540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/>
              </a:rPr>
              <a:t>Accenture Dev Lead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/>
              </a:rPr>
              <a:t>: </a:t>
            </a:r>
            <a:r>
              <a:rPr lang="en-US" sz="1050" dirty="0">
                <a:solidFill>
                  <a:prstClr val="black"/>
                </a:solidFill>
                <a:latin typeface="Calibri" panose="020F0502020204030204"/>
                <a:cs typeface="Calibri"/>
              </a:rPr>
              <a:t>             $ACC_LEAD</a:t>
            </a:r>
            <a:endParaRPr lang="en-IN" sz="1050" dirty="0">
              <a:latin typeface="Aptos"/>
              <a:ea typeface="Calibri"/>
              <a:cs typeface="Calibri"/>
            </a:endParaRPr>
          </a:p>
          <a:p>
            <a:pPr>
              <a:defRPr/>
            </a:pPr>
            <a:r>
              <a:rPr lang="en-US" sz="1100" b="1" dirty="0">
                <a:solidFill>
                  <a:prstClr val="black"/>
                </a:solidFill>
                <a:latin typeface="Calibri" panose="020F0502020204030204"/>
                <a:cs typeface="Calibri"/>
              </a:rPr>
              <a:t>Optum Dev Lead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/>
              </a:rPr>
              <a:t>:</a:t>
            </a:r>
            <a:r>
              <a:rPr lang="en-US" sz="1100" dirty="0">
                <a:solidFill>
                  <a:prstClr val="black"/>
                </a:solidFill>
                <a:latin typeface="Calibri" panose="020F0502020204030204"/>
                <a:cs typeface="Calibri"/>
              </a:rPr>
              <a:t>                  </a:t>
            </a:r>
            <a:r>
              <a:rPr lang="en-IN" sz="1100" dirty="0">
                <a:solidFill>
                  <a:prstClr val="black"/>
                </a:solidFill>
                <a:latin typeface="Calibri" panose="020F0502020204030204"/>
                <a:cs typeface="Calibri"/>
              </a:rPr>
              <a:t>$CLIENT_LEAD</a:t>
            </a:r>
            <a:endParaRPr lang="en-IN" sz="1100" dirty="0">
              <a:latin typeface="Aptos"/>
              <a:ea typeface="Calibri"/>
              <a:cs typeface="Calibri"/>
            </a:endParaRPr>
          </a:p>
          <a:p>
            <a:pPr>
              <a:defRPr/>
            </a:pPr>
            <a:r>
              <a:rPr lang="en-US" sz="1100" b="1" dirty="0">
                <a:solidFill>
                  <a:prstClr val="black"/>
                </a:solidFill>
                <a:latin typeface="Calibri" panose="020F0502020204030204"/>
                <a:cs typeface="Calibri"/>
              </a:rPr>
              <a:t>Optum Product Owner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/>
              </a:rPr>
              <a:t>:</a:t>
            </a:r>
            <a:r>
              <a:rPr lang="en-US" sz="1100" dirty="0">
                <a:solidFill>
                  <a:prstClr val="black"/>
                </a:solidFill>
                <a:latin typeface="Calibri" panose="020F0502020204030204"/>
                <a:cs typeface="Calibri"/>
              </a:rPr>
              <a:t>       $CLIENT_PO</a:t>
            </a:r>
            <a:endParaRPr lang="en-IN" sz="1100" dirty="0">
              <a:solidFill>
                <a:prstClr val="black"/>
              </a:solidFill>
              <a:latin typeface="Aptos"/>
              <a:ea typeface="Calibri"/>
              <a:cs typeface="Calibri"/>
            </a:endParaRPr>
          </a:p>
          <a:p>
            <a:pPr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/>
              </a:rPr>
              <a:t>Accenture Team members: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/>
              </a:rPr>
              <a:t> </a:t>
            </a:r>
            <a:r>
              <a:rPr lang="en-US" sz="1050" dirty="0">
                <a:solidFill>
                  <a:prstClr val="black"/>
                </a:solidFill>
                <a:latin typeface="Calibri" panose="020F0502020204030204"/>
                <a:cs typeface="Calibri"/>
              </a:rPr>
              <a:t>  $ACC_DEV_COUNT Devs</a:t>
            </a:r>
            <a:endParaRPr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28" name="TextBox 30">
            <a:extLst>
              <a:ext uri="{FF2B5EF4-FFF2-40B4-BE49-F238E27FC236}">
                <a16:creationId xmlns:a16="http://schemas.microsoft.com/office/drawing/2014/main" id="{D2DDF4D0-D6A6-7822-F8DD-B75502277437}"/>
              </a:ext>
            </a:extLst>
          </p:cNvPr>
          <p:cNvSpPr txBox="1"/>
          <p:nvPr/>
        </p:nvSpPr>
        <p:spPr>
          <a:xfrm>
            <a:off x="4490356" y="6576784"/>
            <a:ext cx="4082143" cy="24622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/>
              </a:rPr>
              <a:t>Key:   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/>
              </a:rPr>
              <a:t>   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/>
              </a:rPr>
              <a:t>•G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/>
              </a:rPr>
              <a:t>  On Track     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/>
              </a:rPr>
              <a:t>•Y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/>
              </a:rPr>
              <a:t> 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/>
              </a:rPr>
              <a:t>At Risk     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/>
              </a:rPr>
              <a:t>•R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/>
              </a:rPr>
              <a:t>  Critically Behind</a:t>
            </a:r>
          </a:p>
        </p:txBody>
      </p:sp>
      <p:sp>
        <p:nvSpPr>
          <p:cNvPr id="29" name="Text Placeholder 29">
            <a:extLst>
              <a:ext uri="{FF2B5EF4-FFF2-40B4-BE49-F238E27FC236}">
                <a16:creationId xmlns:a16="http://schemas.microsoft.com/office/drawing/2014/main" id="{0B0F2A23-C863-19A9-935A-91E634EE0FEF}"/>
              </a:ext>
            </a:extLst>
          </p:cNvPr>
          <p:cNvSpPr txBox="1">
            <a:spLocks/>
          </p:cNvSpPr>
          <p:nvPr/>
        </p:nvSpPr>
        <p:spPr>
          <a:xfrm>
            <a:off x="366020" y="730826"/>
            <a:ext cx="4045857" cy="25923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Delivery Progress Tracker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as of $DATE </a:t>
            </a:r>
            <a:endParaRPr lang="en-US" dirty="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8A12FBF-90CB-9DFF-2B5B-FBD367F48888}"/>
              </a:ext>
            </a:extLst>
          </p:cNvPr>
          <p:cNvSpPr/>
          <p:nvPr/>
        </p:nvSpPr>
        <p:spPr>
          <a:xfrm>
            <a:off x="366521" y="5588979"/>
            <a:ext cx="6422804" cy="9981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/>
            </a:pPr>
            <a:r>
              <a:rPr lang="en-US" sz="900" b="1" dirty="0">
                <a:solidFill>
                  <a:srgbClr val="DCAFFF">
                    <a:lumMod val="50000"/>
                  </a:srgbClr>
                </a:solidFill>
                <a:latin typeface="Graphik Light"/>
              </a:rPr>
              <a:t>Upcoming PTO ($PTO_DAY): </a:t>
            </a:r>
            <a:r>
              <a:rPr lang="en-US" sz="900" b="1" dirty="0">
                <a:solidFill>
                  <a:schemeClr val="tx1"/>
                </a:solidFill>
                <a:latin typeface="Graphik Light"/>
              </a:rPr>
              <a:t>$PTO_DATA</a:t>
            </a:r>
            <a:r>
              <a:rPr lang="en-US" sz="1100" b="1" dirty="0">
                <a:solidFill>
                  <a:schemeClr val="tx1"/>
                </a:solidFill>
                <a:latin typeface="Graphik Light"/>
                <a:ea typeface="+mn-lt"/>
                <a:cs typeface="+mn-lt"/>
              </a:rPr>
              <a:t> </a:t>
            </a:r>
            <a:endParaRPr lang="en-US" sz="900" b="1" dirty="0">
              <a:solidFill>
                <a:schemeClr val="tx1"/>
              </a:solidFill>
              <a:latin typeface="Graphik Light"/>
              <a:ea typeface="+mn-lt"/>
              <a:cs typeface="+mn-lt"/>
            </a:endParaRPr>
          </a:p>
          <a:p>
            <a:pPr>
              <a:spcAft>
                <a:spcPts val="600"/>
              </a:spcAft>
              <a:defRPr/>
            </a:pPr>
            <a:r>
              <a:rPr lang="en-US" sz="900" b="1" dirty="0">
                <a:solidFill>
                  <a:srgbClr val="7900D7"/>
                </a:solidFill>
                <a:latin typeface="Graphik Light"/>
              </a:rPr>
              <a:t>Unplanned</a:t>
            </a:r>
            <a:r>
              <a:rPr lang="en-US" sz="900" b="1" dirty="0">
                <a:solidFill>
                  <a:srgbClr val="DCAFFF">
                    <a:lumMod val="50000"/>
                  </a:srgbClr>
                </a:solidFill>
                <a:latin typeface="Graphik Light"/>
              </a:rPr>
              <a:t> Leave ($PTO_UL) : </a:t>
            </a:r>
            <a:r>
              <a:rPr lang="en-US" sz="900" b="1" dirty="0">
                <a:solidFill>
                  <a:schemeClr val="tx1"/>
                </a:solidFill>
                <a:latin typeface="Graphik Light"/>
              </a:rPr>
              <a:t>$PTO_UL_DATA</a:t>
            </a:r>
            <a:br>
              <a:rPr lang="en-US" sz="900" dirty="0">
                <a:latin typeface="Graphik Light"/>
              </a:rPr>
            </a:br>
            <a:br>
              <a:rPr lang="en-US" sz="900" dirty="0">
                <a:latin typeface="Graphik Light"/>
              </a:rPr>
            </a:br>
            <a:r>
              <a:rPr lang="en-US" sz="900" b="1" dirty="0">
                <a:solidFill>
                  <a:srgbClr val="DCAFFF">
                    <a:lumMod val="50000"/>
                  </a:srgbClr>
                </a:solidFill>
                <a:latin typeface="Graphik Light"/>
              </a:rPr>
              <a:t>Upcoming Holiday($HOLIDAY): </a:t>
            </a:r>
            <a:r>
              <a:rPr lang="en-US" sz="900" b="1" dirty="0">
                <a:solidFill>
                  <a:schemeClr val="tx1"/>
                </a:solidFill>
                <a:latin typeface="Graphik Light"/>
              </a:rPr>
              <a:t>$HOL_DATA</a:t>
            </a:r>
            <a:endParaRPr lang="en-US" sz="1100" dirty="0">
              <a:solidFill>
                <a:schemeClr val="tx1"/>
              </a:solidFill>
              <a:latin typeface="Aptos"/>
              <a:ea typeface="+mn-lt"/>
              <a:cs typeface="+mn-lt"/>
            </a:endParaRP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374C5E4D-298E-0289-D846-E1246BF29B7E}"/>
              </a:ext>
            </a:extLst>
          </p:cNvPr>
          <p:cNvSpPr txBox="1"/>
          <p:nvPr/>
        </p:nvSpPr>
        <p:spPr>
          <a:xfrm>
            <a:off x="369227" y="5311980"/>
            <a:ext cx="5033147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200" b="1">
                <a:solidFill>
                  <a:srgbClr val="7500C0"/>
                </a:solidFill>
                <a:latin typeface="Calibri"/>
                <a:cs typeface="Calibri"/>
              </a:rPr>
              <a:t>PTO / Holidays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7500C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EAB34739-187E-0651-EA37-31C448875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4930167"/>
              </p:ext>
            </p:extLst>
          </p:nvPr>
        </p:nvGraphicFramePr>
        <p:xfrm>
          <a:off x="367812" y="1079835"/>
          <a:ext cx="11620500" cy="125241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384424038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1678457728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3795375939"/>
                    </a:ext>
                  </a:extLst>
                </a:gridCol>
                <a:gridCol w="7362825">
                  <a:extLst>
                    <a:ext uri="{9D8B030D-6E8A-4147-A177-3AD203B41FA5}">
                      <a16:colId xmlns:a16="http://schemas.microsoft.com/office/drawing/2014/main" val="2841363299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7500C0"/>
                          </a:solidFill>
                          <a:effectLst/>
                          <a:latin typeface="Calibri" panose="020F0502020204030204" pitchFamily="34" charset="0"/>
                        </a:rPr>
                        <a:t>MILESTONES (WITHIN 30 DAYS)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7500C0"/>
                          </a:solidFill>
                          <a:effectLst/>
                          <a:latin typeface="Calibri" panose="020F0502020204030204" pitchFamily="34" charset="0"/>
                        </a:rPr>
                        <a:t>TARGET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7500C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7500C0"/>
                          </a:solidFill>
                          <a:effectLst/>
                          <a:latin typeface="Calibri" panose="020F0502020204030204" pitchFamily="34" charset="0"/>
                        </a:rPr>
                        <a:t>SUMMARY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120802"/>
                  </a:ext>
                </a:extLst>
              </a:tr>
              <a:tr h="357068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425"/>
                        </a:lnSpc>
                        <a:buNone/>
                      </a:pPr>
                      <a:endParaRPr lang="en-US" sz="1200" b="1" i="0" u="none" strike="noStrike" spc="0" dirty="0">
                        <a:solidFill>
                          <a:srgbClr val="008E00"/>
                        </a:solidFill>
                        <a:effectLst/>
                        <a:latin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275"/>
                        </a:lnSpc>
                        <a:buNone/>
                      </a:pP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Graphik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59355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425"/>
                        </a:lnSpc>
                        <a:buNone/>
                      </a:pPr>
                      <a:endParaRPr lang="en-US" sz="1200" b="1" i="0" u="none" strike="noStrike" spc="0" dirty="0">
                        <a:solidFill>
                          <a:srgbClr val="008E00"/>
                        </a:solidFill>
                        <a:effectLst/>
                        <a:latin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200"/>
                        </a:lnSpc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Graphik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9572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endParaRPr lang="en-US" sz="11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425"/>
                        </a:lnSpc>
                        <a:buNone/>
                      </a:pPr>
                      <a:endParaRPr lang="en-US" sz="1200" b="1" i="0" u="none" strike="noStrike" spc="0" dirty="0">
                        <a:solidFill>
                          <a:srgbClr val="008E00"/>
                        </a:solidFill>
                        <a:effectLst/>
                        <a:latin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200"/>
                        </a:lnSpc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Graphik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350816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E89D4672-FA32-076A-4708-5C1072BD5B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32429"/>
              </p:ext>
            </p:extLst>
          </p:nvPr>
        </p:nvGraphicFramePr>
        <p:xfrm>
          <a:off x="6848841" y="2419631"/>
          <a:ext cx="5153025" cy="416745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43077">
                  <a:extLst>
                    <a:ext uri="{9D8B030D-6E8A-4147-A177-3AD203B41FA5}">
                      <a16:colId xmlns:a16="http://schemas.microsoft.com/office/drawing/2014/main" val="3593015306"/>
                    </a:ext>
                  </a:extLst>
                </a:gridCol>
                <a:gridCol w="1008529">
                  <a:extLst>
                    <a:ext uri="{9D8B030D-6E8A-4147-A177-3AD203B41FA5}">
                      <a16:colId xmlns:a16="http://schemas.microsoft.com/office/drawing/2014/main" val="3286052154"/>
                    </a:ext>
                  </a:extLst>
                </a:gridCol>
                <a:gridCol w="987044">
                  <a:extLst>
                    <a:ext uri="{9D8B030D-6E8A-4147-A177-3AD203B41FA5}">
                      <a16:colId xmlns:a16="http://schemas.microsoft.com/office/drawing/2014/main" val="2538154191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3775520555"/>
                    </a:ext>
                  </a:extLst>
                </a:gridCol>
              </a:tblGrid>
              <a:tr h="393029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67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$SPRINT_N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43" marR="6343" marT="634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19678">
                      <a:solidFill>
                        <a:srgbClr val="FFFFFF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$SPRINT_N1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44" marR="6344" marT="6344"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67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$SPRINT_N2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44" marR="6344" marT="634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67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997786"/>
                  </a:ext>
                </a:extLst>
              </a:tr>
              <a:tr h="27492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Planned Velocity 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67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$N_PV</a:t>
                      </a:r>
                    </a:p>
                  </a:txBody>
                  <a:tcPr marL="6343" marR="6343" marT="634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678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$N1_PV</a:t>
                      </a:r>
                    </a:p>
                  </a:txBody>
                  <a:tcPr marL="6343" marR="6343" marT="6343"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67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$N2_PV</a:t>
                      </a:r>
                    </a:p>
                  </a:txBody>
                  <a:tcPr marL="6343" marR="6343" marT="634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67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014196"/>
                  </a:ext>
                </a:extLst>
              </a:tr>
              <a:tr h="347269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Accepted Velocity 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Graphik"/>
                        </a:rPr>
                        <a:t>$N_AV</a:t>
                      </a:r>
                    </a:p>
                  </a:txBody>
                  <a:tcPr marL="6343" marR="6343" marT="634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Graphik"/>
                        </a:rPr>
                        <a:t>$N1_AV</a:t>
                      </a:r>
                    </a:p>
                  </a:txBody>
                  <a:tcPr marL="6343" marR="6343" marT="6343"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Graphik"/>
                        </a:rPr>
                        <a:t>$N2_AV</a:t>
                      </a:r>
                    </a:p>
                  </a:txBody>
                  <a:tcPr marL="6343" marR="6343" marT="634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990880"/>
                  </a:ext>
                </a:extLst>
              </a:tr>
              <a:tr h="448026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 Accepted Velocity Percentage = Planned/Accepted Velocity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$N_VR</a:t>
                      </a:r>
                    </a:p>
                  </a:txBody>
                  <a:tcPr marL="6343" marR="6343" marT="634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$N1_VR</a:t>
                      </a:r>
                    </a:p>
                  </a:txBody>
                  <a:tcPr marL="6343" marR="6343" marT="6343"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$N2_VR</a:t>
                      </a:r>
                    </a:p>
                  </a:txBody>
                  <a:tcPr marL="6343" marR="6343" marT="634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229433"/>
                  </a:ext>
                </a:extLst>
              </a:tr>
              <a:tr h="405146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Number of Development User Stories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$N_US</a:t>
                      </a:r>
                    </a:p>
                  </a:txBody>
                  <a:tcPr marL="6343" marR="6343" marT="634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$N1_US</a:t>
                      </a:r>
                    </a:p>
                  </a:txBody>
                  <a:tcPr marL="6343" marR="6343" marT="6343"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$N2_US</a:t>
                      </a:r>
                    </a:p>
                  </a:txBody>
                  <a:tcPr marL="6343" marR="6343" marT="634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489285"/>
                  </a:ext>
                </a:extLst>
              </a:tr>
              <a:tr h="448026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Number of User Stories Non-Development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$N_DF</a:t>
                      </a:r>
                    </a:p>
                  </a:txBody>
                  <a:tcPr marL="6343" marR="6343" marT="634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$N1_DF</a:t>
                      </a:r>
                    </a:p>
                  </a:txBody>
                  <a:tcPr marL="6343" marR="6343" marT="6343"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$N2_DF</a:t>
                      </a:r>
                    </a:p>
                  </a:txBody>
                  <a:tcPr marL="6343" marR="6343" marT="634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359838"/>
                  </a:ext>
                </a:extLst>
              </a:tr>
              <a:tr h="405146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Number of User Stories delivered- Total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$N_DUS</a:t>
                      </a:r>
                    </a:p>
                  </a:txBody>
                  <a:tcPr marL="6343" marR="6343" marT="634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$N1_DUS</a:t>
                      </a:r>
                    </a:p>
                  </a:txBody>
                  <a:tcPr marL="6343" marR="6343" marT="6343"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$N2_DUS</a:t>
                      </a:r>
                    </a:p>
                  </a:txBody>
                  <a:tcPr marL="6343" marR="6343" marT="634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114824"/>
                  </a:ext>
                </a:extLst>
              </a:tr>
              <a:tr h="27492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Number of Defects fixed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$N_FDF</a:t>
                      </a:r>
                    </a:p>
                  </a:txBody>
                  <a:tcPr marL="6343" marR="6343" marT="634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$N1_FDF</a:t>
                      </a:r>
                    </a:p>
                  </a:txBody>
                  <a:tcPr marL="6343" marR="6343" marT="6343"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$N2_FDF</a:t>
                      </a:r>
                    </a:p>
                  </a:txBody>
                  <a:tcPr marL="6343" marR="6343" marT="634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718439"/>
                  </a:ext>
                </a:extLst>
              </a:tr>
              <a:tr h="448026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Number of Split User Stories/unfinished US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$N_SUS</a:t>
                      </a:r>
                    </a:p>
                  </a:txBody>
                  <a:tcPr marL="6343" marR="6343" marT="634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$N1_SUSF</a:t>
                      </a:r>
                    </a:p>
                  </a:txBody>
                  <a:tcPr marL="6343" marR="6343" marT="6343"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</a:t>
                      </a: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N2_SUSF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43" marR="6343" marT="634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2175"/>
                  </a:ext>
                </a:extLst>
              </a:tr>
              <a:tr h="27492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Code Commits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$N_CC</a:t>
                      </a:r>
                    </a:p>
                  </a:txBody>
                  <a:tcPr marL="6343" marR="6343" marT="634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$N1_CC</a:t>
                      </a:r>
                    </a:p>
                  </a:txBody>
                  <a:tcPr marL="6343" marR="6343" marT="6343"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$N2_CC</a:t>
                      </a:r>
                    </a:p>
                  </a:txBody>
                  <a:tcPr marL="6343" marR="6343" marT="634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900913"/>
                  </a:ext>
                </a:extLst>
              </a:tr>
              <a:tr h="448026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Sonar Gate Range/ Sonar Code Coverage = Average (All Teams)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$N_SCC</a:t>
                      </a:r>
                    </a:p>
                  </a:txBody>
                  <a:tcPr marL="6343" marR="6343" marT="6343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$N1_SCC</a:t>
                      </a:r>
                    </a:p>
                  </a:txBody>
                  <a:tcPr marL="6343" marR="6343" marT="6343" anchor="b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$N2_SCC</a:t>
                      </a:r>
                    </a:p>
                  </a:txBody>
                  <a:tcPr marL="6343" marR="6343" marT="6343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614300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07E66866-9F10-6CF5-72B8-E11A5E412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378090"/>
              </p:ext>
            </p:extLst>
          </p:nvPr>
        </p:nvGraphicFramePr>
        <p:xfrm>
          <a:off x="359385" y="2444611"/>
          <a:ext cx="6425037" cy="138322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4903">
                  <a:extLst>
                    <a:ext uri="{9D8B030D-6E8A-4147-A177-3AD203B41FA5}">
                      <a16:colId xmlns:a16="http://schemas.microsoft.com/office/drawing/2014/main" val="649150550"/>
                    </a:ext>
                  </a:extLst>
                </a:gridCol>
                <a:gridCol w="3701877">
                  <a:extLst>
                    <a:ext uri="{9D8B030D-6E8A-4147-A177-3AD203B41FA5}">
                      <a16:colId xmlns:a16="http://schemas.microsoft.com/office/drawing/2014/main" val="304544959"/>
                    </a:ext>
                  </a:extLst>
                </a:gridCol>
                <a:gridCol w="1203543">
                  <a:extLst>
                    <a:ext uri="{9D8B030D-6E8A-4147-A177-3AD203B41FA5}">
                      <a16:colId xmlns:a16="http://schemas.microsoft.com/office/drawing/2014/main" val="3902422458"/>
                    </a:ext>
                  </a:extLst>
                </a:gridCol>
                <a:gridCol w="1304714">
                  <a:extLst>
                    <a:ext uri="{9D8B030D-6E8A-4147-A177-3AD203B41FA5}">
                      <a16:colId xmlns:a16="http://schemas.microsoft.com/office/drawing/2014/main" val="1578320019"/>
                    </a:ext>
                  </a:extLst>
                </a:gridCol>
              </a:tblGrid>
              <a:tr h="190500">
                <a:tc gridSpan="4">
                  <a:txBody>
                    <a:bodyPr/>
                    <a:lstStyle/>
                    <a:p>
                      <a:pPr marL="0" indent="0"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7500C0"/>
                          </a:solidFill>
                          <a:effectLst/>
                          <a:latin typeface="Calibri" panose="020F0502020204030204" pitchFamily="34" charset="0"/>
                        </a:rPr>
                        <a:t>OPEN DECISIONS (D) / RISKS (R) / ISSUES (I)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6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82603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Title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6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Owner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Mitigation Plan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860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05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$D_T</a:t>
                      </a: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$D_O</a:t>
                      </a: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$D_MP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486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05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$R_T</a:t>
                      </a: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$R_O</a:t>
                      </a: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$R_MP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303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05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$I_T</a:t>
                      </a: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$I_O</a:t>
                      </a: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$I_MP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594153"/>
                  </a:ext>
                </a:extLst>
              </a:tr>
            </a:tbl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67855F95-FBB8-2332-F791-8146FB2B2F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668299"/>
              </p:ext>
            </p:extLst>
          </p:nvPr>
        </p:nvGraphicFramePr>
        <p:xfrm>
          <a:off x="8206154" y="58615"/>
          <a:ext cx="2391210" cy="957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5605">
                  <a:extLst>
                    <a:ext uri="{9D8B030D-6E8A-4147-A177-3AD203B41FA5}">
                      <a16:colId xmlns:a16="http://schemas.microsoft.com/office/drawing/2014/main" val="1969046481"/>
                    </a:ext>
                  </a:extLst>
                </a:gridCol>
                <a:gridCol w="1195605">
                  <a:extLst>
                    <a:ext uri="{9D8B030D-6E8A-4147-A177-3AD203B41FA5}">
                      <a16:colId xmlns:a16="http://schemas.microsoft.com/office/drawing/2014/main" val="4258513485"/>
                    </a:ext>
                  </a:extLst>
                </a:gridCol>
              </a:tblGrid>
              <a:tr h="957026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Current Overall </a:t>
                      </a: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Status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(G)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Previous Overall</a:t>
                      </a:r>
                      <a:r>
                        <a:rPr lang="en-US" sz="11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Status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(G)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660647"/>
                  </a:ext>
                </a:extLst>
              </a:tr>
            </a:tbl>
          </a:graphicData>
        </a:graphic>
      </p:graphicFrame>
      <p:sp>
        <p:nvSpPr>
          <p:cNvPr id="47" name="Rectangle 46">
            <a:extLst>
              <a:ext uri="{FF2B5EF4-FFF2-40B4-BE49-F238E27FC236}">
                <a16:creationId xmlns:a16="http://schemas.microsoft.com/office/drawing/2014/main" id="{3584951F-6636-6C19-1061-55E7080A9EFD}"/>
              </a:ext>
            </a:extLst>
          </p:cNvPr>
          <p:cNvSpPr/>
          <p:nvPr/>
        </p:nvSpPr>
        <p:spPr>
          <a:xfrm>
            <a:off x="10596596" y="69272"/>
            <a:ext cx="1209607" cy="16092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i="0" u="none" strike="noStrike" baseline="0">
                <a:solidFill>
                  <a:srgbClr val="000000"/>
                </a:solidFill>
                <a:latin typeface="Calibri"/>
              </a:rPr>
              <a:t>Scope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alibri"/>
              </a:rPr>
              <a:t> (G)</a:t>
            </a:r>
            <a:r>
              <a:rPr lang="en-US" sz="11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131967F-AC8E-8CF7-BDB3-109B08793AF2}"/>
              </a:ext>
            </a:extLst>
          </p:cNvPr>
          <p:cNvSpPr/>
          <p:nvPr/>
        </p:nvSpPr>
        <p:spPr>
          <a:xfrm>
            <a:off x="10596595" y="256840"/>
            <a:ext cx="1209607" cy="16092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i="0" u="none" strike="noStrike" baseline="0">
                <a:solidFill>
                  <a:srgbClr val="000000"/>
                </a:solidFill>
                <a:latin typeface="Calibri"/>
              </a:rPr>
              <a:t>Schedule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alibri"/>
              </a:rPr>
              <a:t> (G)</a:t>
            </a:r>
            <a:r>
              <a:rPr lang="en-US" sz="11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6B1F6B0-2D67-8802-98E9-948C73B70B93}"/>
              </a:ext>
            </a:extLst>
          </p:cNvPr>
          <p:cNvSpPr/>
          <p:nvPr/>
        </p:nvSpPr>
        <p:spPr>
          <a:xfrm>
            <a:off x="10596595" y="432687"/>
            <a:ext cx="1209607" cy="16092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i="0" u="none" strike="noStrike" baseline="0">
                <a:solidFill>
                  <a:srgbClr val="000000"/>
                </a:solidFill>
                <a:latin typeface="Calibri"/>
              </a:rPr>
              <a:t>Quality (G)</a:t>
            </a:r>
            <a:r>
              <a:rPr lang="en-US" sz="11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8E8D2FA-240D-0F6D-636B-74398F68EF34}"/>
              </a:ext>
            </a:extLst>
          </p:cNvPr>
          <p:cNvSpPr/>
          <p:nvPr/>
        </p:nvSpPr>
        <p:spPr>
          <a:xfrm>
            <a:off x="10596595" y="622251"/>
            <a:ext cx="1209607" cy="16092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i="0" u="none" strike="noStrike" baseline="0">
                <a:solidFill>
                  <a:srgbClr val="000000"/>
                </a:solidFill>
                <a:latin typeface="Calibri"/>
              </a:rPr>
              <a:t>Deliverables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alibri"/>
              </a:rPr>
              <a:t> (G)</a:t>
            </a:r>
            <a:r>
              <a:rPr lang="en-US" sz="11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EA58A27-1083-B213-46B7-E42ACF6C9236}"/>
              </a:ext>
            </a:extLst>
          </p:cNvPr>
          <p:cNvSpPr/>
          <p:nvPr/>
        </p:nvSpPr>
        <p:spPr>
          <a:xfrm>
            <a:off x="10596595" y="819548"/>
            <a:ext cx="1209607" cy="16092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i="0" u="none" strike="noStrike" baseline="0">
                <a:solidFill>
                  <a:srgbClr val="000000"/>
                </a:solidFill>
                <a:latin typeface="Calibri"/>
              </a:rPr>
              <a:t>Resources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alibri"/>
              </a:rPr>
              <a:t> (G)</a:t>
            </a:r>
            <a:r>
              <a:rPr lang="en-US" sz="11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1300</TotalTime>
  <Words>401</Words>
  <Application>Microsoft Office PowerPoint</Application>
  <PresentationFormat>Widescreen</PresentationFormat>
  <Paragraphs>84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Arial</vt:lpstr>
      <vt:lpstr>Arial,Sans-Serif</vt:lpstr>
      <vt:lpstr>Calibri</vt:lpstr>
      <vt:lpstr>Graphik</vt:lpstr>
      <vt:lpstr>Graphik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Dipmalya Sen</cp:lastModifiedBy>
  <cp:revision>149</cp:revision>
  <dcterms:created xsi:type="dcterms:W3CDTF">2026-06-16T14:23:06Z</dcterms:created>
  <dcterms:modified xsi:type="dcterms:W3CDTF">2026-06-20T03:17:19Z</dcterms:modified>
</cp:coreProperties>
</file>